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95118AF-D544-4A9B-A9B3-8607BA62A45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10A5A4-41A3-0119-DF20-FA99B393B547}" v="5" dt="2025-12-11T06:11:57.026"/>
    <p1510:client id="{7A50299C-9CCC-45FB-A216-1A48398D339D}" v="24" dt="2025-12-11T06:04:47.8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ya Boopathy" userId="39191368d1a284b4" providerId="LiveId" clId="{BE86BC1A-481E-4CB2-9544-D850892D99AF}"/>
    <pc:docChg chg="modSld modMainMaster">
      <pc:chgData name="Nithya Boopathy" userId="39191368d1a284b4" providerId="LiveId" clId="{BE86BC1A-481E-4CB2-9544-D850892D99AF}" dt="2025-12-11T06:04:47.822" v="23"/>
      <pc:docMkLst>
        <pc:docMk/>
      </pc:docMkLst>
      <pc:sldChg chg="modTransition">
        <pc:chgData name="Nithya Boopathy" userId="39191368d1a284b4" providerId="LiveId" clId="{BE86BC1A-481E-4CB2-9544-D850892D99AF}" dt="2025-12-11T06:04:47.822" v="23"/>
        <pc:sldMkLst>
          <pc:docMk/>
          <pc:sldMk cId="3835993740" sldId="256"/>
        </pc:sldMkLst>
      </pc:sldChg>
      <pc:sldChg chg="modTransition">
        <pc:chgData name="Nithya Boopathy" userId="39191368d1a284b4" providerId="LiveId" clId="{BE86BC1A-481E-4CB2-9544-D850892D99AF}" dt="2025-12-11T06:04:40.285" v="21"/>
        <pc:sldMkLst>
          <pc:docMk/>
          <pc:sldMk cId="3115748212" sldId="257"/>
        </pc:sldMkLst>
      </pc:sldChg>
      <pc:sldChg chg="modTransition">
        <pc:chgData name="Nithya Boopathy" userId="39191368d1a284b4" providerId="LiveId" clId="{BE86BC1A-481E-4CB2-9544-D850892D99AF}" dt="2025-12-11T06:04:40.285" v="21"/>
        <pc:sldMkLst>
          <pc:docMk/>
          <pc:sldMk cId="4268833401" sldId="258"/>
        </pc:sldMkLst>
      </pc:sldChg>
      <pc:sldChg chg="modTransition">
        <pc:chgData name="Nithya Boopathy" userId="39191368d1a284b4" providerId="LiveId" clId="{BE86BC1A-481E-4CB2-9544-D850892D99AF}" dt="2025-12-11T06:04:40.285" v="21"/>
        <pc:sldMkLst>
          <pc:docMk/>
          <pc:sldMk cId="1218103640" sldId="259"/>
        </pc:sldMkLst>
      </pc:sldChg>
      <pc:sldChg chg="modTransition">
        <pc:chgData name="Nithya Boopathy" userId="39191368d1a284b4" providerId="LiveId" clId="{BE86BC1A-481E-4CB2-9544-D850892D99AF}" dt="2025-12-11T06:04:40.285" v="21"/>
        <pc:sldMkLst>
          <pc:docMk/>
          <pc:sldMk cId="4262061161" sldId="260"/>
        </pc:sldMkLst>
      </pc:sldChg>
      <pc:sldChg chg="modTransition">
        <pc:chgData name="Nithya Boopathy" userId="39191368d1a284b4" providerId="LiveId" clId="{BE86BC1A-481E-4CB2-9544-D850892D99AF}" dt="2025-12-11T06:04:40.285" v="21"/>
        <pc:sldMkLst>
          <pc:docMk/>
          <pc:sldMk cId="2141756220" sldId="261"/>
        </pc:sldMkLst>
      </pc:sldChg>
      <pc:sldChg chg="modTransition">
        <pc:chgData name="Nithya Boopathy" userId="39191368d1a284b4" providerId="LiveId" clId="{BE86BC1A-481E-4CB2-9544-D850892D99AF}" dt="2025-12-11T06:04:40.285" v="21"/>
        <pc:sldMkLst>
          <pc:docMk/>
          <pc:sldMk cId="709182880" sldId="262"/>
        </pc:sldMkLst>
      </pc:sldChg>
      <pc:sldChg chg="modTransition">
        <pc:chgData name="Nithya Boopathy" userId="39191368d1a284b4" providerId="LiveId" clId="{BE86BC1A-481E-4CB2-9544-D850892D99AF}" dt="2025-12-11T06:04:40.285" v="21"/>
        <pc:sldMkLst>
          <pc:docMk/>
          <pc:sldMk cId="2722728395" sldId="263"/>
        </pc:sldMkLst>
      </pc:sldChg>
      <pc:sldChg chg="modTransition">
        <pc:chgData name="Nithya Boopathy" userId="39191368d1a284b4" providerId="LiveId" clId="{BE86BC1A-481E-4CB2-9544-D850892D99AF}" dt="2025-12-11T06:04:40.285" v="21"/>
        <pc:sldMkLst>
          <pc:docMk/>
          <pc:sldMk cId="3676129412" sldId="264"/>
        </pc:sldMkLst>
      </pc:sldChg>
      <pc:sldChg chg="modTransition">
        <pc:chgData name="Nithya Boopathy" userId="39191368d1a284b4" providerId="LiveId" clId="{BE86BC1A-481E-4CB2-9544-D850892D99AF}" dt="2025-12-11T06:04:40.285" v="21"/>
        <pc:sldMkLst>
          <pc:docMk/>
          <pc:sldMk cId="231856821" sldId="265"/>
        </pc:sldMkLst>
      </pc:sldChg>
      <pc:sldChg chg="modTransition">
        <pc:chgData name="Nithya Boopathy" userId="39191368d1a284b4" providerId="LiveId" clId="{BE86BC1A-481E-4CB2-9544-D850892D99AF}" dt="2025-12-11T06:04:40.285" v="21"/>
        <pc:sldMkLst>
          <pc:docMk/>
          <pc:sldMk cId="2454676022" sldId="266"/>
        </pc:sldMkLst>
      </pc:sldChg>
      <pc:sldMasterChg chg="modTransition modSldLayout">
        <pc:chgData name="Nithya Boopathy" userId="39191368d1a284b4" providerId="LiveId" clId="{BE86BC1A-481E-4CB2-9544-D850892D99AF}" dt="2025-12-11T06:04:40.285" v="21"/>
        <pc:sldMasterMkLst>
          <pc:docMk/>
          <pc:sldMasterMk cId="0" sldId="2147483648"/>
        </pc:sldMasterMkLst>
        <pc:sldLayoutChg chg="modTransition">
          <pc:chgData name="Nithya Boopathy" userId="39191368d1a284b4" providerId="LiveId" clId="{BE86BC1A-481E-4CB2-9544-D850892D99AF}" dt="2025-12-11T06:04:40.285" v="21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Nithya Boopathy" userId="39191368d1a284b4" providerId="LiveId" clId="{BE86BC1A-481E-4CB2-9544-D850892D99AF}" dt="2025-12-11T06:04:40.285" v="21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Nithya Boopathy" userId="39191368d1a284b4" providerId="LiveId" clId="{BE86BC1A-481E-4CB2-9544-D850892D99AF}" dt="2025-12-11T06:04:40.285" v="21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Nithya Boopathy" userId="39191368d1a284b4" providerId="LiveId" clId="{BE86BC1A-481E-4CB2-9544-D850892D99AF}" dt="2025-12-11T06:04:40.285" v="21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Nithya Boopathy" userId="39191368d1a284b4" providerId="LiveId" clId="{BE86BC1A-481E-4CB2-9544-D850892D99AF}" dt="2025-12-11T06:04:40.285" v="21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Nithya Boopathy" userId="39191368d1a284b4" providerId="LiveId" clId="{BE86BC1A-481E-4CB2-9544-D850892D99AF}" dt="2025-12-11T06:04:40.285" v="21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Nithya Boopathy" userId="39191368d1a284b4" providerId="LiveId" clId="{BE86BC1A-481E-4CB2-9544-D850892D99AF}" dt="2025-12-11T06:04:40.285" v="21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Nithya Boopathy" userId="39191368d1a284b4" providerId="LiveId" clId="{BE86BC1A-481E-4CB2-9544-D850892D99AF}" dt="2025-12-11T06:04:40.285" v="21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Nithya Boopathy" userId="39191368d1a284b4" providerId="LiveId" clId="{BE86BC1A-481E-4CB2-9544-D850892D99AF}" dt="2025-12-11T06:04:40.285" v="21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Nithya Boopathy" userId="39191368d1a284b4" providerId="LiveId" clId="{BE86BC1A-481E-4CB2-9544-D850892D99AF}" dt="2025-12-11T06:04:40.285" v="21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Nithya Boopathy" userId="39191368d1a284b4" providerId="LiveId" clId="{BE86BC1A-481E-4CB2-9544-D850892D99AF}" dt="2025-12-11T06:04:40.285" v="21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Guest User" providerId="Windows Live" clId="Web-{0C10A5A4-41A3-0119-DF20-FA99B393B547}"/>
    <pc:docChg chg="modSld sldOrd">
      <pc:chgData name="Guest User" userId="" providerId="Windows Live" clId="Web-{0C10A5A4-41A3-0119-DF20-FA99B393B547}" dt="2025-12-11T06:11:57.026" v="3"/>
      <pc:docMkLst>
        <pc:docMk/>
      </pc:docMkLst>
      <pc:sldChg chg="addSp delSp modSp">
        <pc:chgData name="Guest User" userId="" providerId="Windows Live" clId="Web-{0C10A5A4-41A3-0119-DF20-FA99B393B547}" dt="2025-12-11T06:11:53.323" v="2" actId="14100"/>
        <pc:sldMkLst>
          <pc:docMk/>
          <pc:sldMk cId="2722728395" sldId="263"/>
        </pc:sldMkLst>
        <pc:graphicFrameChg chg="del">
          <ac:chgData name="Guest User" userId="" providerId="Windows Live" clId="Web-{0C10A5A4-41A3-0119-DF20-FA99B393B547}" dt="2025-12-11T06:11:33.322" v="0"/>
          <ac:graphicFrameMkLst>
            <pc:docMk/>
            <pc:sldMk cId="2722728395" sldId="263"/>
            <ac:graphicFrameMk id="3" creationId="{B77DE856-CCD5-9633-2078-112093D9D52F}"/>
          </ac:graphicFrameMkLst>
        </pc:graphicFrameChg>
        <pc:picChg chg="add mod">
          <ac:chgData name="Guest User" userId="" providerId="Windows Live" clId="Web-{0C10A5A4-41A3-0119-DF20-FA99B393B547}" dt="2025-12-11T06:11:53.323" v="2" actId="14100"/>
          <ac:picMkLst>
            <pc:docMk/>
            <pc:sldMk cId="2722728395" sldId="263"/>
            <ac:picMk id="4" creationId="{E90C985A-4E15-F07D-765D-DA1025934FF8}"/>
          </ac:picMkLst>
        </pc:picChg>
      </pc:sldChg>
      <pc:sldChg chg="ord">
        <pc:chgData name="Guest User" userId="" providerId="Windows Live" clId="Web-{0C10A5A4-41A3-0119-DF20-FA99B393B547}" dt="2025-12-11T06:11:57.026" v="3"/>
        <pc:sldMkLst>
          <pc:docMk/>
          <pc:sldMk cId="2454676022" sldId="26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Nithya\StudyMaterials\guvi%20projects\Excel%20project\ABC_ELECTRONIC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Nithya\StudyMaterials\guvi%20projects\Excel%20project\ABC_ELECTRONIC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[ABC_ELECTRONICS.xlsx]TAsk6barchart!PivotTable3</c:name>
    <c:fmtId val="3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ln>
                  <a:solidFill>
                    <a:schemeClr val="tx1"/>
                  </a:solidFill>
                </a:ln>
              </a:rPr>
              <a:t>Total sales</a:t>
            </a:r>
            <a:r>
              <a:rPr lang="en-US" baseline="0">
                <a:ln>
                  <a:solidFill>
                    <a:schemeClr val="tx1"/>
                  </a:solidFill>
                </a:ln>
              </a:rPr>
              <a:t> region wise</a:t>
            </a:r>
            <a:endParaRPr lang="en-US">
              <a:ln>
                <a:solidFill>
                  <a:schemeClr val="tx1"/>
                </a:solidFill>
              </a:ln>
            </a:endParaRPr>
          </a:p>
        </c:rich>
      </c:tx>
      <c:layout>
        <c:manualLayout>
          <c:xMode val="edge"/>
          <c:yMode val="edge"/>
          <c:x val="0.40615266841644793"/>
          <c:y val="9.15718868474773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General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General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General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380952380952384"/>
          <c:y val="0.24368850094552291"/>
          <c:w val="0.73531031447156059"/>
          <c:h val="0.5583941423875611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TAsk6barchart!$B$7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TAsk6barchart!$A$8:$A$12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TAsk6barchart!$B$8:$B$12</c:f>
              <c:numCache>
                <c:formatCode>"₹"#,##0.00_);[Red]\("₹"#,##0.00\)</c:formatCode>
                <c:ptCount val="4"/>
                <c:pt idx="0">
                  <c:v>2595496.4800000018</c:v>
                </c:pt>
                <c:pt idx="1">
                  <c:v>2539668.9999999977</c:v>
                </c:pt>
                <c:pt idx="2">
                  <c:v>2494411.2799999993</c:v>
                </c:pt>
                <c:pt idx="3">
                  <c:v>2480206.9300000025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91-4DBB-A57D-EBCFE7A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9055743"/>
        <c:axId val="1459057663"/>
      </c:barChart>
      <c:catAx>
        <c:axId val="1459055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 w="9525"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9057663"/>
        <c:crosses val="autoZero"/>
        <c:auto val="1"/>
        <c:lblAlgn val="ctr"/>
        <c:lblOffset val="100"/>
        <c:noMultiLvlLbl val="0"/>
      </c:catAx>
      <c:valAx>
        <c:axId val="1459057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#,##0.00_);[Red]\(&quot;₹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9055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[ABC_ELECTRONICS.xlsx]Task6piechart!PivotTable5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ln>
                  <a:solidFill>
                    <a:schemeClr val="tx1"/>
                  </a:solidFill>
                </a:ln>
              </a:rPr>
              <a:t>Total</a:t>
            </a:r>
            <a:r>
              <a:rPr lang="en-US" baseline="0">
                <a:ln>
                  <a:solidFill>
                    <a:schemeClr val="tx1"/>
                  </a:solidFill>
                </a:ln>
              </a:rPr>
              <a:t> sales category wise</a:t>
            </a:r>
            <a:endParaRPr lang="en-US">
              <a:ln>
                <a:solidFill>
                  <a:schemeClr val="tx1"/>
                </a:solidFill>
              </a:ln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Task6piechart!$B$3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BFE-486A-B2A8-763F18B6F9A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BFE-486A-B2A8-763F18B6F9A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BFE-486A-B2A8-763F18B6F9A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BFE-486A-B2A8-763F18B6F9A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BFE-486A-B2A8-763F18B6F9A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Task6piechart!$A$4:$A$9</c:f>
              <c:strCache>
                <c:ptCount val="5"/>
                <c:pt idx="0">
                  <c:v>CLOTHING</c:v>
                </c:pt>
                <c:pt idx="1">
                  <c:v>ELECTRONICS</c:v>
                </c:pt>
                <c:pt idx="2">
                  <c:v>FURNITURE</c:v>
                </c:pt>
                <c:pt idx="3">
                  <c:v>GROCERIES</c:v>
                </c:pt>
                <c:pt idx="4">
                  <c:v>SPORTS</c:v>
                </c:pt>
              </c:strCache>
            </c:strRef>
          </c:cat>
          <c:val>
            <c:numRef>
              <c:f>Task6piechart!$B$4:$B$9</c:f>
              <c:numCache>
                <c:formatCode>General</c:formatCode>
                <c:ptCount val="5"/>
                <c:pt idx="0">
                  <c:v>2156007.5799999982</c:v>
                </c:pt>
                <c:pt idx="1">
                  <c:v>2047834.9300000004</c:v>
                </c:pt>
                <c:pt idx="2">
                  <c:v>2049496.1599999995</c:v>
                </c:pt>
                <c:pt idx="3">
                  <c:v>1864225.0599999994</c:v>
                </c:pt>
                <c:pt idx="4">
                  <c:v>1992219.959999999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BFE-486A-B2A8-763F18B6F9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09675-D2C0-4F0D-BC61-5711F93D0434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E3D8B-C199-486D-AAD1-2DF36F4C7F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206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2E3D8B-C199-486D-AAD1-2DF36F4C7FE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748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BB239-7984-53C9-B13F-0376B92DE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AA84B-64DF-0EC8-9F6E-B497E30A8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E8A8B-C782-F7BE-10A4-E4E1488F9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37BAC-16D5-1909-DCB6-06C154C78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2E3D8B-C199-486D-AAD1-2DF36F4C7FE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284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344E-1619-5ECE-411D-3DB3BEC4F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3706527"/>
          </a:xfrm>
        </p:spPr>
        <p:txBody>
          <a:bodyPr>
            <a:normAutofit/>
          </a:bodyPr>
          <a:lstStyle/>
          <a:p>
            <a:r>
              <a:rPr lang="en-IN" b="1"/>
              <a:t>Analysing and Visualizing Regional Sales Performance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99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210E1-A756-C660-9CC2-18199FFA7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31" y="342420"/>
            <a:ext cx="9603275" cy="1049235"/>
          </a:xfrm>
        </p:spPr>
        <p:txBody>
          <a:bodyPr/>
          <a:lstStyle/>
          <a:p>
            <a:r>
              <a:rPr lang="en-IN" dirty="0"/>
              <a:t>           </a:t>
            </a:r>
            <a:r>
              <a:rPr lang="en-IN" b="1" u="sng" dirty="0"/>
              <a:t>Task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C0CE0-4C56-195B-E00E-4028322A4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031" y="1052052"/>
            <a:ext cx="10684823" cy="4414293"/>
          </a:xfrm>
        </p:spPr>
        <p:txBody>
          <a:bodyPr/>
          <a:lstStyle/>
          <a:p>
            <a:r>
              <a:rPr lang="en-IN" dirty="0"/>
              <a:t> Filtered the dataset to find all orders placed in the "South" region for the "Electronics" category within the last year.</a:t>
            </a:r>
          </a:p>
          <a:p>
            <a:r>
              <a:rPr lang="en-IN" dirty="0"/>
              <a:t>We can filter any required field as per our requirement.</a:t>
            </a:r>
          </a:p>
          <a:p>
            <a:endParaRPr lang="en-IN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B24DF2-F849-018C-8AA9-60149EFD2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9742"/>
            <a:ext cx="12192000" cy="4498258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C46C13-1C08-1CD2-2D71-BD171C93F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43706"/>
            <a:ext cx="12192000" cy="441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74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5A8B9-9F01-12B2-2CF8-507C94895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9461F-4A72-1559-75F4-F09F9CF96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11" y="157317"/>
            <a:ext cx="10838544" cy="1696438"/>
          </a:xfrm>
        </p:spPr>
        <p:txBody>
          <a:bodyPr/>
          <a:lstStyle/>
          <a:p>
            <a:r>
              <a:rPr lang="en-IN" dirty="0"/>
              <a:t>                       </a:t>
            </a:r>
            <a:r>
              <a:rPr lang="en-IN" b="1" u="sng" dirty="0"/>
              <a:t>Task2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1EE36-4233-1230-2F79-7B7D341F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914400"/>
            <a:ext cx="10553409" cy="4551945"/>
          </a:xfrm>
        </p:spPr>
        <p:txBody>
          <a:bodyPr/>
          <a:lstStyle/>
          <a:p>
            <a:r>
              <a:rPr lang="en-IN"/>
              <a:t>Data cleaning done. </a:t>
            </a:r>
          </a:p>
          <a:p>
            <a:r>
              <a:rPr lang="en-IN"/>
              <a:t>Sorted the regions and product category sections. </a:t>
            </a:r>
          </a:p>
          <a:p>
            <a:r>
              <a:rPr lang="en-IN"/>
              <a:t>used Proper function for order id. </a:t>
            </a:r>
          </a:p>
          <a:p>
            <a:r>
              <a:rPr lang="en-IN"/>
              <a:t>Used lower function for region column.</a:t>
            </a:r>
          </a:p>
          <a:p>
            <a:r>
              <a:rPr lang="en-IN"/>
              <a:t>Used upper function for Product category column.</a:t>
            </a:r>
          </a:p>
          <a:p>
            <a:r>
              <a:rPr lang="en-IN"/>
              <a:t>Used the currency symbol in the data wherever required.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292C3E-2DF3-01C3-AB58-6C64CF8E9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652" y="3824748"/>
            <a:ext cx="7482348" cy="303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3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D7218-82B6-F87C-B4D6-1439E1544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027" y="442453"/>
            <a:ext cx="9766828" cy="1411302"/>
          </a:xfrm>
        </p:spPr>
        <p:txBody>
          <a:bodyPr/>
          <a:lstStyle/>
          <a:p>
            <a:r>
              <a:rPr lang="en-IN" dirty="0"/>
              <a:t>              </a:t>
            </a:r>
            <a:r>
              <a:rPr lang="en-IN" b="1" u="sng" dirty="0"/>
              <a:t>Task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F911D-2889-C12F-930B-ABFCE7E6B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735" y="894736"/>
            <a:ext cx="10160120" cy="4571610"/>
          </a:xfrm>
        </p:spPr>
        <p:txBody>
          <a:bodyPr/>
          <a:lstStyle/>
          <a:p>
            <a:r>
              <a:rPr lang="en-IN" dirty="0"/>
              <a:t>Calculated the average sales amount for each region using the </a:t>
            </a:r>
            <a:r>
              <a:rPr lang="en-IN" dirty="0" err="1"/>
              <a:t>Averageif</a:t>
            </a:r>
            <a:r>
              <a:rPr lang="en-IN" dirty="0"/>
              <a:t> formula and also using the pivot table.</a:t>
            </a:r>
          </a:p>
          <a:p>
            <a:r>
              <a:rPr lang="en-IN" dirty="0"/>
              <a:t>Merged this calculated value back into the dataset based on the Region column as using the </a:t>
            </a:r>
            <a:r>
              <a:rPr lang="en-IN" dirty="0" err="1"/>
              <a:t>Vlookup</a:t>
            </a:r>
            <a:r>
              <a:rPr lang="en-IN" dirty="0"/>
              <a:t> formula as assigned per the project.</a:t>
            </a:r>
          </a:p>
          <a:p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D76997-FD06-95C9-F7FC-08D8974C1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5380"/>
            <a:ext cx="12192000" cy="424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0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8EEBD-DFFB-25E0-572B-D9FBAD92C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187" y="186813"/>
            <a:ext cx="9717667" cy="1666941"/>
          </a:xfrm>
        </p:spPr>
        <p:txBody>
          <a:bodyPr/>
          <a:lstStyle/>
          <a:p>
            <a:r>
              <a:rPr lang="en-IN" dirty="0"/>
              <a:t>                                    </a:t>
            </a:r>
            <a:r>
              <a:rPr lang="en-IN" b="1" u="sng" dirty="0"/>
              <a:t>Task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E344A-EEC4-5626-1F61-2B75925A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749" y="865239"/>
            <a:ext cx="10278106" cy="4601106"/>
          </a:xfrm>
        </p:spPr>
        <p:txBody>
          <a:bodyPr/>
          <a:lstStyle/>
          <a:p>
            <a:r>
              <a:rPr lang="en-IN"/>
              <a:t>Calculated total sales for each region using the SUMIF formula.</a:t>
            </a:r>
          </a:p>
          <a:p>
            <a:r>
              <a:rPr lang="en-IN"/>
              <a:t>Calculated  the average discount percentage and profit for the "Furniture" category using AVERAGEIFS formula.</a:t>
            </a:r>
          </a:p>
          <a:p>
            <a:endParaRPr lang="en-IN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AF2331-B120-A769-C34D-F78C6837D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4103"/>
            <a:ext cx="12192000" cy="475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6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EA77B-7D72-D0D3-43A3-45C090C70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3" y="422787"/>
            <a:ext cx="10042131" cy="580103"/>
          </a:xfrm>
        </p:spPr>
        <p:txBody>
          <a:bodyPr/>
          <a:lstStyle/>
          <a:p>
            <a:r>
              <a:rPr lang="en-IN" dirty="0"/>
              <a:t>                                     </a:t>
            </a:r>
            <a:r>
              <a:rPr lang="en-IN" b="1" u="sng" dirty="0"/>
              <a:t>Task5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6E401E-4E8F-268D-CC18-CFAA1AB6C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7" y="1002890"/>
            <a:ext cx="9917708" cy="4463455"/>
          </a:xfrm>
        </p:spPr>
        <p:txBody>
          <a:bodyPr/>
          <a:lstStyle/>
          <a:p>
            <a:r>
              <a:rPr lang="en-IN" dirty="0"/>
              <a:t>Created a pivot table to analyse the total sales by region and product category.</a:t>
            </a:r>
          </a:p>
          <a:p>
            <a:r>
              <a:rPr lang="en-IN" dirty="0"/>
              <a:t>Inserted slicers to filter the profit and sales by region and product category.</a:t>
            </a:r>
          </a:p>
          <a:p>
            <a:endParaRPr lang="en-IN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85AB5C-1107-42A7-71A5-0CAE04EF1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8128"/>
            <a:ext cx="12192000" cy="498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5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073ED-B635-DBF1-AA93-CE153F861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6B06C-5A97-420C-1BD2-EF6895BEC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3" y="422787"/>
            <a:ext cx="10042131" cy="580103"/>
          </a:xfrm>
        </p:spPr>
        <p:txBody>
          <a:bodyPr/>
          <a:lstStyle/>
          <a:p>
            <a:r>
              <a:rPr lang="en-IN" dirty="0"/>
              <a:t>                                     </a:t>
            </a:r>
            <a:r>
              <a:rPr lang="en-IN" u="sng" dirty="0"/>
              <a:t>Task 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91C0E-2AEC-2F6A-0D14-84BE29838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7" y="1002890"/>
            <a:ext cx="9917708" cy="4463455"/>
          </a:xfrm>
        </p:spPr>
        <p:txBody>
          <a:bodyPr/>
          <a:lstStyle/>
          <a:p>
            <a:r>
              <a:rPr lang="en-IN"/>
              <a:t>Created a Bar chart showing the total sales of each region.</a:t>
            </a:r>
          </a:p>
          <a:p>
            <a:r>
              <a:rPr lang="en-IN"/>
              <a:t> created a pie chart showing the % contribution of each product category to total sales.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3D2AE1E-4A61-EC9F-50D7-0EDC4FD6BF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591814"/>
              </p:ext>
            </p:extLst>
          </p:nvPr>
        </p:nvGraphicFramePr>
        <p:xfrm>
          <a:off x="295583" y="2103674"/>
          <a:ext cx="4689372" cy="2807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396B07F-374B-7C08-630F-09C6873BD0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5023363"/>
              </p:ext>
            </p:extLst>
          </p:nvPr>
        </p:nvGraphicFramePr>
        <p:xfrm>
          <a:off x="5506064" y="2103674"/>
          <a:ext cx="6174659" cy="3492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09182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61D2F-B8BC-8DCA-CCE7-D25E3A88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F7305-BCB9-B964-805A-11E46954A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3" y="422787"/>
            <a:ext cx="10042131" cy="580103"/>
          </a:xfrm>
        </p:spPr>
        <p:txBody>
          <a:bodyPr/>
          <a:lstStyle/>
          <a:p>
            <a:r>
              <a:rPr lang="en-IN" dirty="0"/>
              <a:t>                                     </a:t>
            </a:r>
            <a:r>
              <a:rPr lang="en-IN" b="1" u="sng" dirty="0"/>
              <a:t>Task 7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A2B218-5714-D21F-005C-3B398EA47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837" y="1002890"/>
            <a:ext cx="9917708" cy="4463455"/>
          </a:xfrm>
        </p:spPr>
        <p:txBody>
          <a:bodyPr/>
          <a:lstStyle/>
          <a:p>
            <a:r>
              <a:rPr lang="en-IN"/>
              <a:t>Created a scattered plot to visualize  the relationship between the discount%  on the sales and understanding the impact.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0C985A-4E15-F07D-765D-DA1025934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2767"/>
            <a:ext cx="12192000" cy="51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2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9D667-3163-4A0A-DE5C-A7DAFDF0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8155"/>
            <a:ext cx="9603275" cy="737419"/>
          </a:xfrm>
        </p:spPr>
        <p:txBody>
          <a:bodyPr/>
          <a:lstStyle/>
          <a:p>
            <a:r>
              <a:rPr lang="en-IN" b="1" u="sng" dirty="0"/>
              <a:t>Task 8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903C5F-6199-E7E8-C02F-F498BDAB0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630" y="845574"/>
            <a:ext cx="9603275" cy="3450613"/>
          </a:xfrm>
        </p:spPr>
        <p:txBody>
          <a:bodyPr/>
          <a:lstStyle/>
          <a:p>
            <a:r>
              <a:rPr lang="en-IN"/>
              <a:t>Created a Stacked bar chart showing the total sales by region and product category.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912016-2156-008B-0EDA-4D1DA8EFF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8026"/>
            <a:ext cx="12192000" cy="556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29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E329-7CB0-2037-6E7D-0976857F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8659"/>
            <a:ext cx="9603275" cy="766915"/>
          </a:xfrm>
        </p:spPr>
        <p:txBody>
          <a:bodyPr/>
          <a:lstStyle/>
          <a:p>
            <a:r>
              <a:rPr lang="en-IN" dirty="0"/>
              <a:t>                                    </a:t>
            </a:r>
            <a:r>
              <a:rPr lang="en-IN" b="1" u="sng" dirty="0"/>
              <a:t>Task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B987A-3D44-D130-15A9-54075455F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61" y="776748"/>
            <a:ext cx="11149781" cy="4689597"/>
          </a:xfrm>
        </p:spPr>
        <p:txBody>
          <a:bodyPr/>
          <a:lstStyle/>
          <a:p>
            <a:r>
              <a:rPr lang="en-IN"/>
              <a:t>Created a dashboard to Visualise the data based on region, category ,profit and year.</a:t>
            </a:r>
          </a:p>
          <a:p>
            <a:r>
              <a:rPr lang="en-IN"/>
              <a:t>Created a pie chart, column chart ,line chart and area chart.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5E0BB9-2AF1-1DB7-8BB7-E391B6FB5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5" y="1691148"/>
            <a:ext cx="12015019" cy="508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6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5CDD-BF26-003F-777C-1C4DB78B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8324"/>
            <a:ext cx="9603275" cy="530942"/>
          </a:xfrm>
        </p:spPr>
        <p:txBody>
          <a:bodyPr/>
          <a:lstStyle/>
          <a:p>
            <a:r>
              <a:rPr lang="en-IN" dirty="0"/>
              <a:t>                                     </a:t>
            </a:r>
            <a:r>
              <a:rPr lang="en-IN" b="1" u="sng" dirty="0"/>
              <a:t>Task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0E686-09C5-2CE2-82C3-2364FC395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501446"/>
            <a:ext cx="9603275" cy="4964900"/>
          </a:xfrm>
        </p:spPr>
        <p:txBody>
          <a:bodyPr/>
          <a:lstStyle/>
          <a:p>
            <a:r>
              <a:rPr lang="en-IN"/>
              <a:t>Calculated the Profit % using formula profit/sales *100 Then added a column Profit %.</a:t>
            </a:r>
          </a:p>
          <a:p>
            <a:r>
              <a:rPr lang="en-IN"/>
              <a:t> used conditional formatting for highlighting </a:t>
            </a:r>
          </a:p>
          <a:p>
            <a:r>
              <a:rPr lang="en-IN"/>
              <a:t> sales Above 4000 and profit % greater than 50%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7F89AE-DCF4-CCF3-1517-56C7EEE5F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3099"/>
            <a:ext cx="12260826" cy="496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76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C0ACE-BBD9-4A73-68C0-64D6DC076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8FAD3-8955-34A6-C363-3467FA610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8324"/>
            <a:ext cx="9603275" cy="530942"/>
          </a:xfrm>
        </p:spPr>
        <p:txBody>
          <a:bodyPr>
            <a:normAutofit/>
          </a:bodyPr>
          <a:lstStyle/>
          <a:p>
            <a:r>
              <a:rPr lang="en-IN" dirty="0"/>
              <a:t>  </a:t>
            </a:r>
            <a:r>
              <a:rPr lang="en-IN" b="1" u="sng" dirty="0"/>
              <a:t>Key insights from the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1E618-9FB0-006B-E6ED-A7D58A7CF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2154"/>
            <a:ext cx="12054980" cy="5788312"/>
          </a:xfrm>
        </p:spPr>
        <p:txBody>
          <a:bodyPr>
            <a:normAutofit/>
          </a:bodyPr>
          <a:lstStyle/>
          <a:p>
            <a:r>
              <a:rPr lang="en-IN" b="1" u="sng" dirty="0"/>
              <a:t>Regional Performance : </a:t>
            </a:r>
            <a:r>
              <a:rPr lang="en-IN" dirty="0"/>
              <a:t>The </a:t>
            </a:r>
            <a:r>
              <a:rPr lang="en-IN" b="1" dirty="0"/>
              <a:t>East region</a:t>
            </a:r>
            <a:r>
              <a:rPr lang="en-IN" dirty="0"/>
              <a:t> leads with total sales of ₹2.59 M, followed closely by </a:t>
            </a:r>
            <a:r>
              <a:rPr lang="en-IN" b="1" dirty="0"/>
              <a:t>North (₹2.54 M)</a:t>
            </a:r>
            <a:r>
              <a:rPr lang="en-IN" dirty="0"/>
              <a:t> and </a:t>
            </a:r>
            <a:r>
              <a:rPr lang="en-IN" b="1" dirty="0"/>
              <a:t>South (₹2.49 M)</a:t>
            </a:r>
            <a:r>
              <a:rPr lang="en-IN" dirty="0"/>
              <a:t>. The </a:t>
            </a:r>
            <a:r>
              <a:rPr lang="en-IN" b="1" dirty="0"/>
              <a:t>West region</a:t>
            </a:r>
            <a:r>
              <a:rPr lang="en-IN" dirty="0"/>
              <a:t> slightly lags at ₹2.48 M — indicating relatively balanced regional performance.</a:t>
            </a:r>
          </a:p>
          <a:p>
            <a:r>
              <a:rPr lang="en-IN" b="1" u="sng" dirty="0"/>
              <a:t>Category Performance: </a:t>
            </a:r>
            <a:r>
              <a:rPr lang="en-IN" b="1" dirty="0"/>
              <a:t>Clothing (₹2.16 M)</a:t>
            </a:r>
            <a:r>
              <a:rPr lang="en-IN" dirty="0"/>
              <a:t> and </a:t>
            </a:r>
            <a:r>
              <a:rPr lang="en-IN" b="1" dirty="0"/>
              <a:t>Electronics (₹2.05 M)</a:t>
            </a:r>
            <a:r>
              <a:rPr lang="en-IN" dirty="0"/>
              <a:t> are top contributors, while </a:t>
            </a:r>
            <a:r>
              <a:rPr lang="en-IN" b="1" dirty="0"/>
              <a:t>Groceries (₹1.86 M)</a:t>
            </a:r>
            <a:r>
              <a:rPr lang="en-IN" dirty="0"/>
              <a:t> show lower sales — suggesting potential for promotional focus.</a:t>
            </a:r>
          </a:p>
          <a:p>
            <a:r>
              <a:rPr lang="en-IN" b="1" u="sng" dirty="0"/>
              <a:t>Profitability : </a:t>
            </a:r>
            <a:r>
              <a:rPr lang="en-IN" dirty="0"/>
              <a:t>The </a:t>
            </a:r>
            <a:r>
              <a:rPr lang="en-IN" b="1" dirty="0"/>
              <a:t>Furniture category</a:t>
            </a:r>
            <a:r>
              <a:rPr lang="en-IN" dirty="0"/>
              <a:t> shows moderate sales but strong profit margins . This implies high profitability despite lower volume.</a:t>
            </a:r>
          </a:p>
          <a:p>
            <a:r>
              <a:rPr lang="en-IN" b="1" u="sng" dirty="0"/>
              <a:t>Discount Impact </a:t>
            </a:r>
            <a:r>
              <a:rPr lang="en-IN" dirty="0"/>
              <a:t>: The </a:t>
            </a:r>
            <a:r>
              <a:rPr lang="en-IN" b="1" dirty="0"/>
              <a:t>scatter plot</a:t>
            </a:r>
            <a:r>
              <a:rPr lang="en-IN" dirty="0"/>
              <a:t> reveals that higher discounts don’t always lead to higher sales suggesting diminishing returns beyond a certain discount threshold.</a:t>
            </a:r>
          </a:p>
          <a:p>
            <a:r>
              <a:rPr lang="en-IN" b="1" u="sng" dirty="0"/>
              <a:t>Sales Distribution : </a:t>
            </a:r>
            <a:r>
              <a:rPr lang="en-IN" dirty="0"/>
              <a:t>The </a:t>
            </a:r>
            <a:r>
              <a:rPr lang="en-IN" b="1" dirty="0"/>
              <a:t>stacked bar chart</a:t>
            </a:r>
            <a:r>
              <a:rPr lang="en-IN" dirty="0"/>
              <a:t> and </a:t>
            </a:r>
            <a:r>
              <a:rPr lang="en-IN" b="1" dirty="0"/>
              <a:t>dashboard visuals</a:t>
            </a:r>
            <a:r>
              <a:rPr lang="en-IN" dirty="0"/>
              <a:t> confirm that sales are evenly spread across regions, but category contribution varies Electronics and Clothing dominate across all regions.</a:t>
            </a:r>
          </a:p>
          <a:p>
            <a:r>
              <a:rPr lang="en-IN" b="1" u="sng" dirty="0"/>
              <a:t>High‑Value Transactions :  </a:t>
            </a:r>
            <a:r>
              <a:rPr lang="en-IN" dirty="0"/>
              <a:t>Conditional formatting highlights sales above ₹4,000 and profit % &gt; 50 %. These represent </a:t>
            </a:r>
            <a:r>
              <a:rPr lang="en-IN" b="1" dirty="0"/>
              <a:t>premium transactions</a:t>
            </a:r>
            <a:r>
              <a:rPr lang="en-IN" dirty="0"/>
              <a:t> worth deeper customer analysis.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2423400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99903-16E4-5923-6334-A3DF93181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15" y="109057"/>
            <a:ext cx="10259735" cy="587229"/>
          </a:xfrm>
        </p:spPr>
        <p:txBody>
          <a:bodyPr/>
          <a:lstStyle/>
          <a:p>
            <a:r>
              <a:rPr lang="en-IN" b="1" u="sng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E28C4-734E-F168-B8D5-0FBB2AD57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505" y="947956"/>
            <a:ext cx="11056689" cy="4932726"/>
          </a:xfrm>
        </p:spPr>
        <p:txBody>
          <a:bodyPr/>
          <a:lstStyle/>
          <a:p>
            <a:r>
              <a:rPr lang="en-IN" b="1" u="sng" dirty="0"/>
              <a:t>Regional Strategy: </a:t>
            </a:r>
            <a:r>
              <a:rPr lang="en-IN" dirty="0"/>
              <a:t>Strengthen marketing and logistics in </a:t>
            </a:r>
            <a:r>
              <a:rPr lang="en-IN" b="1" dirty="0"/>
              <a:t>West region</a:t>
            </a:r>
            <a:r>
              <a:rPr lang="en-IN" dirty="0"/>
              <a:t> to close the small gap with East/North. Consider regional offers or partnerships.</a:t>
            </a:r>
          </a:p>
          <a:p>
            <a:r>
              <a:rPr lang="en-IN" b="1" u="sng" dirty="0"/>
              <a:t>Product Mix Optimization :</a:t>
            </a:r>
            <a:r>
              <a:rPr lang="en-IN" dirty="0"/>
              <a:t>Increase visibility and bundle offers for </a:t>
            </a:r>
            <a:r>
              <a:rPr lang="en-IN" b="1" dirty="0"/>
              <a:t>Groceries and Sports</a:t>
            </a:r>
            <a:r>
              <a:rPr lang="en-IN" dirty="0"/>
              <a:t> categories to balance portfolio contribution.</a:t>
            </a:r>
          </a:p>
          <a:p>
            <a:r>
              <a:rPr lang="en-IN" b="1" u="sng" dirty="0"/>
              <a:t>Discount Policy : </a:t>
            </a:r>
            <a:r>
              <a:rPr lang="en-IN" dirty="0"/>
              <a:t>Use insights from the scatter plot to </a:t>
            </a:r>
            <a:r>
              <a:rPr lang="en-IN" b="1" dirty="0"/>
              <a:t>optimize discount thresholds</a:t>
            </a:r>
            <a:r>
              <a:rPr lang="en-IN" dirty="0"/>
              <a:t> ,avoid excessive discounts that don’t improve sales.</a:t>
            </a:r>
          </a:p>
          <a:p>
            <a:r>
              <a:rPr lang="en-IN" b="1" u="sng" dirty="0"/>
              <a:t>Profit Maximization : </a:t>
            </a:r>
            <a:r>
              <a:rPr lang="en-IN" dirty="0"/>
              <a:t>Expand </a:t>
            </a:r>
            <a:r>
              <a:rPr lang="en-IN" b="1" dirty="0"/>
              <a:t>Furniture category</a:t>
            </a:r>
            <a:r>
              <a:rPr lang="en-IN" dirty="0"/>
              <a:t> promotions .High profit % suggests potential for premium positioning.</a:t>
            </a:r>
          </a:p>
          <a:p>
            <a:r>
              <a:rPr lang="en-IN" b="1" u="sng" dirty="0"/>
              <a:t>Customer Segmentation:  </a:t>
            </a:r>
            <a:r>
              <a:rPr lang="en-IN" dirty="0" err="1"/>
              <a:t>Analyze</a:t>
            </a:r>
            <a:r>
              <a:rPr lang="en-IN" dirty="0"/>
              <a:t> customers behind high‑value transactions (sales &gt; ₹4,000, profit % &gt; 50 %) to design loyalty programs.</a:t>
            </a:r>
          </a:p>
        </p:txBody>
      </p:sp>
    </p:spTree>
    <p:extLst>
      <p:ext uri="{BB962C8B-B14F-4D97-AF65-F5344CB8AC3E}">
        <p14:creationId xmlns:p14="http://schemas.microsoft.com/office/powerpoint/2010/main" val="303119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310</TotalTime>
  <Words>649</Words>
  <Application>Microsoft Office PowerPoint</Application>
  <PresentationFormat>Widescreen</PresentationFormat>
  <Paragraphs>51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Gill Sans MT</vt:lpstr>
      <vt:lpstr>Gallery</vt:lpstr>
      <vt:lpstr>Analysing and Visualizing Regional Sales Performance</vt:lpstr>
      <vt:lpstr>           Task 1</vt:lpstr>
      <vt:lpstr>                       Task2 </vt:lpstr>
      <vt:lpstr>              Task 3</vt:lpstr>
      <vt:lpstr>                                    Task 4</vt:lpstr>
      <vt:lpstr>                                     Task5</vt:lpstr>
      <vt:lpstr>                                     Task 6</vt:lpstr>
      <vt:lpstr>                                     Task 7</vt:lpstr>
      <vt:lpstr>Task 8</vt:lpstr>
      <vt:lpstr>                                    Task 9</vt:lpstr>
      <vt:lpstr>                                     Task 10</vt:lpstr>
      <vt:lpstr>  Key insights from the analysis 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Nithya Boopathy</dc:creator>
  <cp:lastModifiedBy>Nithya Boopathy</cp:lastModifiedBy>
  <cp:revision>6</cp:revision>
  <dcterms:created xsi:type="dcterms:W3CDTF">2025-12-05T09:00:50Z</dcterms:created>
  <dcterms:modified xsi:type="dcterms:W3CDTF">2026-06-24T11:06:01Z</dcterms:modified>
</cp:coreProperties>
</file>